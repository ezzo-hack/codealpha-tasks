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6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50B8-4F31-41D0-9A3E-69514C1F54F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A3C69B05-086F-4876-908F-595527F31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788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50B8-4F31-41D0-9A3E-69514C1F54F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69B05-086F-4876-908F-595527F31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9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AD1650B8-4F31-41D0-9A3E-69514C1F54F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A3C69B05-086F-4876-908F-595527F31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476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50B8-4F31-41D0-9A3E-69514C1F54F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69B05-086F-4876-908F-595527F31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857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50B8-4F31-41D0-9A3E-69514C1F54F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69B05-086F-4876-908F-595527F31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45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50B8-4F31-41D0-9A3E-69514C1F54F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69B05-086F-4876-908F-595527F31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723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50B8-4F31-41D0-9A3E-69514C1F54F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69B05-086F-4876-908F-595527F31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431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50B8-4F31-41D0-9A3E-69514C1F54F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69B05-086F-4876-908F-595527F31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769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50B8-4F31-41D0-9A3E-69514C1F54F1}" type="datetimeFigureOut">
              <a:rPr lang="en-US" smtClean="0"/>
              <a:t>3/1/2026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69B05-086F-4876-908F-595527F31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057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50B8-4F31-41D0-9A3E-69514C1F54F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69B05-086F-4876-908F-595527F31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211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50B8-4F31-41D0-9A3E-69514C1F54F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69B05-086F-4876-908F-595527F31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7095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50B8-4F31-41D0-9A3E-69514C1F54F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69B05-086F-4876-908F-595527F31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299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AD1650B8-4F31-41D0-9A3E-69514C1F54F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A3C69B05-086F-4876-908F-595527F31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341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Phishing Awareness Training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Advanced Cyber Security Awareness Program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8324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Agenda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• What is Phishing?</a:t>
            </a:r>
          </a:p>
          <a:p>
            <a:pPr marL="0" indent="0">
              <a:buNone/>
            </a:pPr>
            <a:r>
              <a:rPr lang="en-US" dirty="0" smtClean="0"/>
              <a:t>• Types of Phishing Attacks</a:t>
            </a:r>
          </a:p>
          <a:p>
            <a:pPr marL="0" indent="0">
              <a:buNone/>
            </a:pPr>
            <a:r>
              <a:rPr lang="en-US" dirty="0" smtClean="0"/>
              <a:t>• Attack Lifecycle</a:t>
            </a:r>
          </a:p>
          <a:p>
            <a:pPr marL="0" indent="0">
              <a:buNone/>
            </a:pPr>
            <a:r>
              <a:rPr lang="en-US" dirty="0" smtClean="0"/>
              <a:t>• Real-world Examples</a:t>
            </a:r>
          </a:p>
          <a:p>
            <a:pPr marL="0" indent="0">
              <a:buNone/>
            </a:pPr>
            <a:r>
              <a:rPr lang="en-US" dirty="0" smtClean="0"/>
              <a:t>• Prevention &amp; Response</a:t>
            </a:r>
          </a:p>
          <a:p>
            <a:pPr marL="0" indent="0">
              <a:buNone/>
            </a:pPr>
            <a:r>
              <a:rPr lang="en-US" dirty="0" smtClean="0"/>
              <a:t>• Quiz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6275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What is Phishing?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• Social engineering cyberattack</a:t>
            </a:r>
          </a:p>
          <a:p>
            <a:pPr marL="0" indent="0">
              <a:buNone/>
            </a:pPr>
            <a:r>
              <a:rPr lang="en-US" dirty="0" smtClean="0"/>
              <a:t>• Tricks users into revealing sensitive information</a:t>
            </a:r>
          </a:p>
          <a:p>
            <a:pPr marL="0" indent="0">
              <a:buNone/>
            </a:pPr>
            <a:r>
              <a:rPr lang="en-US" dirty="0" smtClean="0"/>
              <a:t>• Delivered via email, SMS, calls, fake websites</a:t>
            </a:r>
          </a:p>
          <a:p>
            <a:pPr marL="0" indent="0">
              <a:buNone/>
            </a:pPr>
            <a:r>
              <a:rPr lang="en-US" dirty="0" smtClean="0"/>
              <a:t>• Targets credentials, banking info, company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5586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Why Phishing is Dangerous?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• Data theft</a:t>
            </a:r>
          </a:p>
          <a:p>
            <a:pPr marL="0" indent="0">
              <a:buNone/>
            </a:pPr>
            <a:r>
              <a:rPr lang="en-US" dirty="0" smtClean="0"/>
              <a:t>• Financial loss</a:t>
            </a:r>
          </a:p>
          <a:p>
            <a:pPr marL="0" indent="0">
              <a:buNone/>
            </a:pPr>
            <a:r>
              <a:rPr lang="en-US" dirty="0" smtClean="0"/>
              <a:t>• Identity theft</a:t>
            </a:r>
          </a:p>
          <a:p>
            <a:pPr marL="0" indent="0">
              <a:buNone/>
            </a:pPr>
            <a:r>
              <a:rPr lang="en-US" dirty="0" smtClean="0"/>
              <a:t>• Ransomware infection</a:t>
            </a:r>
          </a:p>
          <a:p>
            <a:pPr marL="0" indent="0">
              <a:buNone/>
            </a:pPr>
            <a:r>
              <a:rPr lang="en-US" dirty="0" smtClean="0"/>
              <a:t>• Corporate data breach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430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Types of Phishing Attacks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• Email Phishing</a:t>
            </a:r>
          </a:p>
          <a:p>
            <a:pPr marL="0" indent="0">
              <a:buNone/>
            </a:pPr>
            <a:r>
              <a:rPr lang="en-US" dirty="0" smtClean="0"/>
              <a:t>• Spear Phishing (Targeted attack)</a:t>
            </a:r>
          </a:p>
          <a:p>
            <a:pPr marL="0" indent="0">
              <a:buNone/>
            </a:pPr>
            <a:r>
              <a:rPr lang="en-US" dirty="0" smtClean="0"/>
              <a:t>• Whaling (Targeting executives)</a:t>
            </a:r>
          </a:p>
          <a:p>
            <a:pPr marL="0" indent="0">
              <a:buNone/>
            </a:pPr>
            <a:r>
              <a:rPr lang="en-US" dirty="0" smtClean="0"/>
              <a:t>• </a:t>
            </a:r>
            <a:r>
              <a:rPr lang="en-US" dirty="0" err="1" smtClean="0"/>
              <a:t>Smishing</a:t>
            </a:r>
            <a:r>
              <a:rPr lang="en-US" dirty="0" smtClean="0"/>
              <a:t> (SMS phishing)</a:t>
            </a:r>
          </a:p>
          <a:p>
            <a:pPr marL="0" indent="0">
              <a:buNone/>
            </a:pPr>
            <a:r>
              <a:rPr lang="en-US" dirty="0" smtClean="0"/>
              <a:t>• Vishing (Voice phishing)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4004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Phishing Attack Lifecycle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1. Reconnaissance (Collect victim info)</a:t>
            </a:r>
          </a:p>
          <a:p>
            <a:pPr marL="0" indent="0">
              <a:buNone/>
            </a:pPr>
            <a:r>
              <a:rPr lang="en-US" dirty="0" smtClean="0"/>
              <a:t>2. Crafting fake message</a:t>
            </a:r>
          </a:p>
          <a:p>
            <a:pPr marL="0" indent="0">
              <a:buNone/>
            </a:pPr>
            <a:r>
              <a:rPr lang="en-US" dirty="0" smtClean="0"/>
              <a:t>3. Sending phishing email/SMS</a:t>
            </a:r>
          </a:p>
          <a:p>
            <a:pPr marL="0" indent="0">
              <a:buNone/>
            </a:pPr>
            <a:r>
              <a:rPr lang="en-US" dirty="0" smtClean="0"/>
              <a:t>4. Victim clicks malicious link</a:t>
            </a:r>
          </a:p>
          <a:p>
            <a:pPr marL="0" indent="0">
              <a:buNone/>
            </a:pPr>
            <a:r>
              <a:rPr lang="en-US" dirty="0" smtClean="0"/>
              <a:t>5. Data theft or malware installation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6143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Common Phishing Red Flags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• Urgent threats (Act immediately!)</a:t>
            </a:r>
          </a:p>
          <a:p>
            <a:pPr marL="0" indent="0">
              <a:buNone/>
            </a:pPr>
            <a:r>
              <a:rPr lang="en-US" dirty="0" smtClean="0"/>
              <a:t>• Suspicious sender address</a:t>
            </a:r>
          </a:p>
          <a:p>
            <a:pPr marL="0" indent="0">
              <a:buNone/>
            </a:pPr>
            <a:r>
              <a:rPr lang="en-US" dirty="0" smtClean="0"/>
              <a:t>• Grammar/spelling errors</a:t>
            </a:r>
          </a:p>
          <a:p>
            <a:pPr marL="0" indent="0">
              <a:buNone/>
            </a:pPr>
            <a:r>
              <a:rPr lang="en-US" dirty="0" smtClean="0"/>
              <a:t>• Fake domain names</a:t>
            </a:r>
          </a:p>
          <a:p>
            <a:pPr marL="0" indent="0">
              <a:buNone/>
            </a:pPr>
            <a:r>
              <a:rPr lang="en-US" dirty="0" smtClean="0"/>
              <a:t>• Unexpected attachments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8343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How to Detect Fake Websites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• Misspelled domain names</a:t>
            </a:r>
          </a:p>
          <a:p>
            <a:pPr marL="0" indent="0">
              <a:buNone/>
            </a:pPr>
            <a:r>
              <a:rPr lang="en-US" dirty="0" smtClean="0"/>
              <a:t>• No HTTPS encryption</a:t>
            </a:r>
          </a:p>
          <a:p>
            <a:pPr marL="0" indent="0">
              <a:buNone/>
            </a:pPr>
            <a:r>
              <a:rPr lang="en-US" dirty="0" smtClean="0"/>
              <a:t>• Poor website design</a:t>
            </a:r>
          </a:p>
          <a:p>
            <a:pPr marL="0" indent="0">
              <a:buNone/>
            </a:pPr>
            <a:r>
              <a:rPr lang="en-US" dirty="0" smtClean="0"/>
              <a:t>• Requests sensitive information immediately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0801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Social Engineering Techniques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• Fear (Account suspension)</a:t>
            </a:r>
          </a:p>
          <a:p>
            <a:pPr marL="0" indent="0">
              <a:buNone/>
            </a:pPr>
            <a:r>
              <a:rPr lang="en-US" dirty="0" smtClean="0"/>
              <a:t>• Authority (Bank/CEO impersonation)</a:t>
            </a:r>
          </a:p>
          <a:p>
            <a:pPr marL="0" indent="0">
              <a:buNone/>
            </a:pPr>
            <a:r>
              <a:rPr lang="en-US" dirty="0" smtClean="0"/>
              <a:t>• Urgency (Limited time offer)</a:t>
            </a:r>
          </a:p>
          <a:p>
            <a:pPr marL="0" indent="0">
              <a:buNone/>
            </a:pPr>
            <a:r>
              <a:rPr lang="en-US" dirty="0" smtClean="0"/>
              <a:t>• Curiosity (You've won a prize!)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4990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Real-World Example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• Fake Microsoft password reset emails</a:t>
            </a:r>
          </a:p>
          <a:p>
            <a:pPr marL="0" indent="0">
              <a:buNone/>
            </a:pPr>
            <a:r>
              <a:rPr lang="en-US" dirty="0" smtClean="0"/>
              <a:t>• Banking phishing scams</a:t>
            </a:r>
          </a:p>
          <a:p>
            <a:pPr marL="0" indent="0">
              <a:buNone/>
            </a:pPr>
            <a:r>
              <a:rPr lang="en-US" dirty="0" smtClean="0"/>
              <a:t>• Fake Amazon delivery messages</a:t>
            </a:r>
          </a:p>
          <a:p>
            <a:pPr marL="0" indent="0">
              <a:buNone/>
            </a:pPr>
            <a:r>
              <a:rPr lang="en-US" dirty="0" smtClean="0"/>
              <a:t>• COVID-19 themed phishing campaigns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9027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Phishing Statistics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• Most common cyberattack worldwide</a:t>
            </a:r>
          </a:p>
          <a:p>
            <a:pPr marL="0" indent="0">
              <a:buNone/>
            </a:pPr>
            <a:r>
              <a:rPr lang="en-US" dirty="0" smtClean="0"/>
              <a:t>• Millions of phishing emails sent daily</a:t>
            </a:r>
          </a:p>
          <a:p>
            <a:pPr marL="0" indent="0">
              <a:buNone/>
            </a:pPr>
            <a:r>
              <a:rPr lang="en-US" dirty="0" smtClean="0"/>
              <a:t>• Human error is major cause of breaches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7325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Prevention Best Practices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• Enable Multi-Factor Authentication (MFA)</a:t>
            </a:r>
          </a:p>
          <a:p>
            <a:pPr marL="0" indent="0">
              <a:buNone/>
            </a:pPr>
            <a:r>
              <a:rPr lang="en-US" dirty="0" smtClean="0"/>
              <a:t>• Verify email sender carefully</a:t>
            </a:r>
          </a:p>
          <a:p>
            <a:pPr marL="0" indent="0">
              <a:buNone/>
            </a:pPr>
            <a:r>
              <a:rPr lang="en-US" dirty="0" smtClean="0"/>
              <a:t>• Do not click unknown links</a:t>
            </a:r>
          </a:p>
          <a:p>
            <a:pPr marL="0" indent="0">
              <a:buNone/>
            </a:pPr>
            <a:r>
              <a:rPr lang="en-US" dirty="0" smtClean="0"/>
              <a:t>• Keep software updated</a:t>
            </a:r>
          </a:p>
          <a:p>
            <a:pPr marL="0" indent="0">
              <a:buNone/>
            </a:pPr>
            <a:r>
              <a:rPr lang="en-US" dirty="0" smtClean="0"/>
              <a:t>• Use strong passwords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0032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If You Suspect Phishing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• Disconnect from internet</a:t>
            </a:r>
          </a:p>
          <a:p>
            <a:pPr marL="0" indent="0">
              <a:buNone/>
            </a:pPr>
            <a:r>
              <a:rPr lang="en-US" dirty="0" smtClean="0"/>
              <a:t>• Change passwords immediately</a:t>
            </a:r>
          </a:p>
          <a:p>
            <a:pPr marL="0" indent="0">
              <a:buNone/>
            </a:pPr>
            <a:r>
              <a:rPr lang="en-US" dirty="0" smtClean="0"/>
              <a:t>• Inform IT/Security team</a:t>
            </a:r>
          </a:p>
          <a:p>
            <a:pPr marL="0" indent="0">
              <a:buNone/>
            </a:pPr>
            <a:r>
              <a:rPr lang="en-US" dirty="0" smtClean="0"/>
              <a:t>• Scan system for malware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8626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Quiz Time!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1. Which is a phishing sign?</a:t>
            </a:r>
          </a:p>
          <a:p>
            <a:pPr marL="0" indent="0">
              <a:buNone/>
            </a:pPr>
            <a:r>
              <a:rPr lang="en-US" dirty="0" smtClean="0"/>
              <a:t>A) Urgent email demanding action</a:t>
            </a:r>
          </a:p>
          <a:p>
            <a:pPr marL="0" indent="0">
              <a:buNone/>
            </a:pPr>
            <a:r>
              <a:rPr lang="en-US" dirty="0" smtClean="0"/>
              <a:t>B) Official secure website</a:t>
            </a:r>
          </a:p>
          <a:p>
            <a:pPr marL="0" indent="0">
              <a:buNone/>
            </a:pPr>
            <a:r>
              <a:rPr lang="en-US" dirty="0" smtClean="0"/>
              <a:t>C) Regular company update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2. What should you do if suspicious?</a:t>
            </a:r>
          </a:p>
          <a:p>
            <a:pPr marL="0" indent="0">
              <a:buNone/>
            </a:pPr>
            <a:r>
              <a:rPr lang="en-US" dirty="0" smtClean="0"/>
              <a:t>A) Reply immediately</a:t>
            </a:r>
          </a:p>
          <a:p>
            <a:pPr marL="0" indent="0">
              <a:buNone/>
            </a:pPr>
            <a:r>
              <a:rPr lang="en-US" dirty="0" smtClean="0"/>
              <a:t>B) Report to 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9557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Stay Alert. Stay Secure.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Think Before You Click!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0539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</TotalTime>
  <Words>380</Words>
  <Application>Microsoft Office PowerPoint</Application>
  <PresentationFormat>Widescreen</PresentationFormat>
  <Paragraphs>79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Rockwell</vt:lpstr>
      <vt:lpstr>Rockwell Condensed</vt:lpstr>
      <vt:lpstr>Wingdings</vt:lpstr>
      <vt:lpstr>Wood Type</vt:lpstr>
      <vt:lpstr>Phishing Awareness Training</vt:lpstr>
      <vt:lpstr>Agenda</vt:lpstr>
      <vt:lpstr>What is Phishing?</vt:lpstr>
      <vt:lpstr>Why Phishing is Dangerous?</vt:lpstr>
      <vt:lpstr>Types of Phishing Attacks</vt:lpstr>
      <vt:lpstr>Phishing Attack Lifecycle</vt:lpstr>
      <vt:lpstr>Common Phishing Red Flags</vt:lpstr>
      <vt:lpstr>How to Detect Fake Websites</vt:lpstr>
      <vt:lpstr>Social Engineering Techniques</vt:lpstr>
      <vt:lpstr>Real-World Example</vt:lpstr>
      <vt:lpstr>Phishing Statistics</vt:lpstr>
      <vt:lpstr>Prevention Best Practices</vt:lpstr>
      <vt:lpstr>If You Suspect Phishing</vt:lpstr>
      <vt:lpstr>Quiz Time!</vt:lpstr>
      <vt:lpstr>Stay Alert. Stay Secure.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creator>E Z Z O</dc:creator>
  <cp:lastModifiedBy>E Z Z O</cp:lastModifiedBy>
  <cp:revision>1</cp:revision>
  <dcterms:created xsi:type="dcterms:W3CDTF">2026-03-01T05:18:18Z</dcterms:created>
  <dcterms:modified xsi:type="dcterms:W3CDTF">2026-03-01T05:20:16Z</dcterms:modified>
</cp:coreProperties>
</file>